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85" r:id="rId7"/>
    <p:sldId id="284" r:id="rId8"/>
    <p:sldId id="304" r:id="rId9"/>
    <p:sldId id="286" r:id="rId10"/>
    <p:sldId id="287" r:id="rId11"/>
    <p:sldId id="288" r:id="rId12"/>
    <p:sldId id="289" r:id="rId13"/>
    <p:sldId id="293" r:id="rId14"/>
    <p:sldId id="290" r:id="rId15"/>
    <p:sldId id="299" r:id="rId16"/>
    <p:sldId id="295" r:id="rId17"/>
    <p:sldId id="296" r:id="rId18"/>
    <p:sldId id="297" r:id="rId19"/>
    <p:sldId id="298" r:id="rId20"/>
    <p:sldId id="300" r:id="rId21"/>
    <p:sldId id="294" r:id="rId22"/>
    <p:sldId id="276" r:id="rId23"/>
    <p:sldId id="277" r:id="rId24"/>
    <p:sldId id="278" r:id="rId25"/>
    <p:sldId id="279" r:id="rId26"/>
    <p:sldId id="281" r:id="rId2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50" d="100"/>
          <a:sy n="150" d="100"/>
        </p:scale>
        <p:origin x="-470" y="-6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Lato"/>
                <a:cs typeface="La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1A99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21"/>
                </a:lnTo>
                <a:lnTo>
                  <a:pt x="372897" y="45821"/>
                </a:lnTo>
                <a:lnTo>
                  <a:pt x="376008" y="45821"/>
                </a:lnTo>
                <a:lnTo>
                  <a:pt x="745756" y="45821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81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487799"/>
                </a:lnTo>
                <a:close/>
              </a:path>
            </a:pathLst>
          </a:custGeom>
          <a:solidFill>
            <a:srgbClr val="E8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03292" y="1191252"/>
            <a:ext cx="373380" cy="46355"/>
          </a:xfrm>
          <a:custGeom>
            <a:avLst/>
            <a:gdLst/>
            <a:ahLst/>
            <a:cxnLst/>
            <a:rect l="l" t="t" r="r" b="b"/>
            <a:pathLst>
              <a:path w="373380" h="46355">
                <a:moveTo>
                  <a:pt x="372859" y="45827"/>
                </a:moveTo>
                <a:lnTo>
                  <a:pt x="0" y="45827"/>
                </a:lnTo>
                <a:lnTo>
                  <a:pt x="0" y="0"/>
                </a:lnTo>
                <a:lnTo>
                  <a:pt x="372859" y="0"/>
                </a:lnTo>
                <a:lnTo>
                  <a:pt x="372859" y="45827"/>
                </a:lnTo>
                <a:close/>
              </a:path>
            </a:pathLst>
          </a:custGeom>
          <a:solidFill>
            <a:srgbClr val="EB5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30390" y="1191252"/>
            <a:ext cx="376555" cy="46355"/>
          </a:xfrm>
          <a:custGeom>
            <a:avLst/>
            <a:gdLst/>
            <a:ahLst/>
            <a:cxnLst/>
            <a:rect l="l" t="t" r="r" b="b"/>
            <a:pathLst>
              <a:path w="376555" h="46355">
                <a:moveTo>
                  <a:pt x="376011" y="45827"/>
                </a:moveTo>
                <a:lnTo>
                  <a:pt x="0" y="45827"/>
                </a:lnTo>
                <a:lnTo>
                  <a:pt x="0" y="0"/>
                </a:lnTo>
                <a:lnTo>
                  <a:pt x="376011" y="0"/>
                </a:lnTo>
                <a:lnTo>
                  <a:pt x="376011" y="45827"/>
                </a:lnTo>
                <a:close/>
              </a:path>
            </a:pathLst>
          </a:custGeom>
          <a:solidFill>
            <a:srgbClr val="1A99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823" y="1328131"/>
            <a:ext cx="7542352" cy="1126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0673" y="1428400"/>
            <a:ext cx="7542653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ato"/>
                <a:cs typeface="La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hyperlink" Target="https://doi.org/10.1109/iconat61936.2024.10774717" TargetMode="External"/><Relationship Id="rId5" Type="http://schemas.openxmlformats.org/officeDocument/2006/relationships/hyperlink" Target="https://doi.org/10.55041/ijsrem39280" TargetMode="External"/><Relationship Id="rId4" Type="http://schemas.openxmlformats.org/officeDocument/2006/relationships/hyperlink" Target="https://doi.org/10.1109/icacrs62842.2024.10841493" TargetMode="External"/><Relationship Id="rId3" Type="http://schemas.openxmlformats.org/officeDocument/2006/relationships/hyperlink" Target="https://doi.org/10.1109/icacrs62842.2024.10841608" TargetMode="External"/><Relationship Id="rId2" Type="http://schemas.openxmlformats.org/officeDocument/2006/relationships/hyperlink" Target="https://doi.org/10.1109/icacrs62842.2024.10841529" TargetMode="Externa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666750"/>
            <a:ext cx="9200515" cy="4699635"/>
          </a:xfrm>
          <a:custGeom>
            <a:avLst/>
            <a:gdLst/>
            <a:ahLst/>
            <a:cxnLst/>
            <a:rect l="l" t="t" r="r" b="b"/>
            <a:pathLst>
              <a:path w="9144000" h="4655820">
                <a:moveTo>
                  <a:pt x="0" y="4655690"/>
                </a:moveTo>
                <a:lnTo>
                  <a:pt x="9143981" y="4655690"/>
                </a:lnTo>
                <a:lnTo>
                  <a:pt x="9143981" y="0"/>
                </a:lnTo>
                <a:lnTo>
                  <a:pt x="0" y="0"/>
                </a:lnTo>
                <a:lnTo>
                  <a:pt x="0" y="4655690"/>
                </a:lnTo>
                <a:close/>
              </a:path>
            </a:pathLst>
          </a:custGeom>
          <a:solidFill>
            <a:srgbClr val="E8EDED"/>
          </a:solidFill>
        </p:spPr>
        <p:txBody>
          <a:bodyPr wrap="square" lIns="0" tIns="0" rIns="0" bIns="0" rtlCol="0">
            <a:scene3d>
              <a:camera prst="orthographicFront"/>
              <a:lightRig rig="threePt" dir="t"/>
            </a:scene3d>
          </a:bodyPr>
          <a:lstStyle/>
          <a:p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0390" y="1191252"/>
            <a:ext cx="746125" cy="46355"/>
            <a:chOff x="830390" y="1191252"/>
            <a:chExt cx="746125" cy="46355"/>
          </a:xfrm>
        </p:grpSpPr>
        <p:sp>
          <p:nvSpPr>
            <p:cNvPr id="4" name="object 4"/>
            <p:cNvSpPr/>
            <p:nvPr/>
          </p:nvSpPr>
          <p:spPr>
            <a:xfrm>
              <a:off x="1203292" y="1191252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7"/>
                  </a:moveTo>
                  <a:lnTo>
                    <a:pt x="0" y="45827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7"/>
                  </a:lnTo>
                  <a:close/>
                </a:path>
              </a:pathLst>
            </a:custGeom>
            <a:solidFill>
              <a:srgbClr val="EB5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30390" y="1191252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1" y="45827"/>
                  </a:moveTo>
                  <a:lnTo>
                    <a:pt x="0" y="45827"/>
                  </a:lnTo>
                  <a:lnTo>
                    <a:pt x="0" y="0"/>
                  </a:lnTo>
                  <a:lnTo>
                    <a:pt x="376011" y="0"/>
                  </a:lnTo>
                  <a:lnTo>
                    <a:pt x="376011" y="45827"/>
                  </a:lnTo>
                  <a:close/>
                </a:path>
              </a:pathLst>
            </a:custGeom>
            <a:solidFill>
              <a:srgbClr val="1A99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81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487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2400" y="819150"/>
            <a:ext cx="8840470" cy="130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800" b="1" spc="7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cs typeface="Arial" panose="020B0604020202020204"/>
              </a:rPr>
              <a:t>REAL-TIME SIGN LANGUAGE RECOGNITION SYSTEM USING DEEP LEARNING AND COMPUTER VISION</a:t>
            </a:r>
            <a:endParaRPr lang="en-US" altLang="en-US" sz="2800" b="1" spc="75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473" y="4050110"/>
            <a:ext cx="1760220" cy="25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600">
              <a:latin typeface="Lato"/>
              <a:cs typeface="Lato"/>
            </a:endParaRPr>
          </a:p>
        </p:txBody>
      </p:sp>
      <p:pic>
        <p:nvPicPr>
          <p:cNvPr id="1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190433"/>
            <a:ext cx="1371600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Box 13"/>
          <p:cNvSpPr txBox="1"/>
          <p:nvPr/>
        </p:nvSpPr>
        <p:spPr>
          <a:xfrm>
            <a:off x="152400" y="4095750"/>
            <a:ext cx="2486025" cy="1145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Submitted by</a:t>
            </a:r>
            <a:endParaRPr lang="en-US" altLang="en-US"/>
          </a:p>
          <a:p>
            <a:r>
              <a:rPr lang="en-US" altLang="en-US"/>
              <a:t>Name: Sumanpreet kaur</a:t>
            </a:r>
            <a:endParaRPr lang="en-US" altLang="en-US"/>
          </a:p>
          <a:p>
            <a:r>
              <a:rPr lang="en-US" altLang="en-US"/>
              <a:t>(U.R.No.:2461612)</a:t>
            </a:r>
            <a:endParaRPr lang="en-US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4892040" y="3867150"/>
            <a:ext cx="4232275" cy="1028065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latin typeface="Times New Roman" panose="02020603050405020304"/>
                <a:ea typeface="SimSun" panose="02010600030101010101" pitchFamily="2" charset="-122"/>
              </a:rPr>
              <a:t>Prof</a:t>
            </a: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.Manjot Kaur Gill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Assistant Professor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Department of CSE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</p:txBody>
      </p:sp>
      <p:grpSp>
        <p:nvGrpSpPr>
          <p:cNvPr id="17" name="object 7"/>
          <p:cNvGrpSpPr/>
          <p:nvPr/>
        </p:nvGrpSpPr>
        <p:grpSpPr>
          <a:xfrm>
            <a:off x="5673090" y="1934210"/>
            <a:ext cx="3173730" cy="1694815"/>
            <a:chOff x="4606890" y="1384397"/>
            <a:chExt cx="4537710" cy="2822575"/>
          </a:xfrm>
        </p:grpSpPr>
        <p:sp>
          <p:nvSpPr>
            <p:cNvPr id="18" name="object 8"/>
            <p:cNvSpPr/>
            <p:nvPr/>
          </p:nvSpPr>
          <p:spPr>
            <a:xfrm>
              <a:off x="4606890" y="1384397"/>
              <a:ext cx="4537090" cy="28223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p/>
          </p:txBody>
        </p:sp>
        <p:sp>
          <p:nvSpPr>
            <p:cNvPr id="19" name="object 9"/>
            <p:cNvSpPr/>
            <p:nvPr/>
          </p:nvSpPr>
          <p:spPr>
            <a:xfrm>
              <a:off x="5232589" y="1896621"/>
              <a:ext cx="3445242" cy="15589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0"/>
            <a:ext cx="4572000" cy="5143500"/>
            <a:chOff x="1" y="0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1" y="0"/>
              <a:ext cx="4571989" cy="514343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49" y="0"/>
              <a:ext cx="4568825" cy="5143500"/>
            </a:xfrm>
            <a:custGeom>
              <a:avLst/>
              <a:gdLst/>
              <a:ahLst/>
              <a:cxnLst/>
              <a:rect l="l" t="t" r="r" b="b"/>
              <a:pathLst>
                <a:path w="4568825" h="5143500">
                  <a:moveTo>
                    <a:pt x="4568690" y="5143489"/>
                  </a:moveTo>
                  <a:lnTo>
                    <a:pt x="0" y="5143489"/>
                  </a:lnTo>
                  <a:lnTo>
                    <a:pt x="0" y="0"/>
                  </a:lnTo>
                  <a:lnTo>
                    <a:pt x="4568690" y="0"/>
                  </a:lnTo>
                  <a:lnTo>
                    <a:pt x="4568690" y="5143489"/>
                  </a:lnTo>
                  <a:close/>
                </a:path>
              </a:pathLst>
            </a:custGeom>
            <a:solidFill>
              <a:srgbClr val="178C7C">
                <a:alpha val="6807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30389" y="1191259"/>
              <a:ext cx="746125" cy="46355"/>
            </a:xfrm>
            <a:custGeom>
              <a:avLst/>
              <a:gdLst/>
              <a:ahLst/>
              <a:cxnLst/>
              <a:rect l="l" t="t" r="r" b="b"/>
              <a:pathLst>
                <a:path w="746125" h="46355">
                  <a:moveTo>
                    <a:pt x="745756" y="0"/>
                  </a:moveTo>
                  <a:lnTo>
                    <a:pt x="376008" y="0"/>
                  </a:lnTo>
                  <a:lnTo>
                    <a:pt x="372897" y="0"/>
                  </a:lnTo>
                  <a:lnTo>
                    <a:pt x="0" y="0"/>
                  </a:lnTo>
                  <a:lnTo>
                    <a:pt x="0" y="45821"/>
                  </a:lnTo>
                  <a:lnTo>
                    <a:pt x="372897" y="45821"/>
                  </a:lnTo>
                  <a:lnTo>
                    <a:pt x="376008" y="45821"/>
                  </a:lnTo>
                  <a:lnTo>
                    <a:pt x="745756" y="45821"/>
                  </a:lnTo>
                  <a:lnTo>
                    <a:pt x="745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03023" y="1361192"/>
            <a:ext cx="31470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25" dirty="0"/>
              <a:t>Abstract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5411002" y="666603"/>
            <a:ext cx="3275329" cy="281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100"/>
              </a:spcBef>
            </a:pPr>
            <a:r>
              <a:rPr sz="2000" spc="-5" dirty="0">
                <a:latin typeface="Times New Roman" panose="02020603050405020304"/>
                <a:cs typeface="Times New Roman" panose="02020603050405020304"/>
              </a:rPr>
              <a:t>Our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project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aims to create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  </a:t>
            </a:r>
            <a:r>
              <a:rPr lang="en-US" altLang="en-US" sz="1200" b="1" spc="75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cs typeface="Arial" panose="020B0604020202020204"/>
                <a:sym typeface="+mn-ea"/>
              </a:rPr>
              <a:t>REAL-TIME SIGN LANGUAGE RECOGNITION SYSTEM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and train 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model which when shown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  real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video of hand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gestures  of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American Sign Language  shows the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output for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that 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particular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sign in text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format on 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screen.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698" y="2011806"/>
            <a:ext cx="3300095" cy="1115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b="1" spc="180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We </a:t>
            </a:r>
            <a:r>
              <a:rPr sz="2400" b="1" spc="70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implemented </a:t>
            </a:r>
            <a:r>
              <a:rPr sz="2400" b="1" spc="15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27  </a:t>
            </a:r>
            <a:r>
              <a:rPr sz="2400" b="1" spc="-10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symbols(A-Z, </a:t>
            </a:r>
            <a:r>
              <a:rPr sz="2400" b="1" spc="20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blank)</a:t>
            </a:r>
            <a:r>
              <a:rPr sz="2400" b="1" spc="-254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35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2400" b="1" spc="-105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ASL </a:t>
            </a:r>
            <a:r>
              <a:rPr sz="2400" b="1" spc="-40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2400" b="1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400" b="1" spc="-155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10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project.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81638" y="1011590"/>
            <a:ext cx="4185430" cy="288662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823" y="1315939"/>
            <a:ext cx="4914900" cy="185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6000"/>
              <a:t>Literature Review</a:t>
            </a:r>
            <a:endParaRPr lang="en-US" altLang="en-US" sz="6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 flipV="1">
            <a:off x="-222885" y="5094605"/>
            <a:ext cx="184785" cy="93980"/>
          </a:xfrm>
        </p:spPr>
        <p:txBody>
          <a:bodyPr>
            <a:noAutofit/>
          </a:bodyPr>
          <a:p>
            <a:endParaRPr lang="en-US" sz="1200"/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250825" y="113665"/>
          <a:ext cx="8499475" cy="20234910"/>
        </p:xfrm>
        <a:graphic>
          <a:graphicData uri="http://schemas.openxmlformats.org/drawingml/2006/table">
            <a:tbl>
              <a:tblPr/>
              <a:tblGrid>
                <a:gridCol w="2157095"/>
                <a:gridCol w="1823720"/>
                <a:gridCol w="1118870"/>
                <a:gridCol w="1699895"/>
                <a:gridCol w="1699895"/>
              </a:tblGrid>
              <a:tr h="41973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Title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Authors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Year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Journal/Conference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Publisher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344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A real-time platform for Spanish Sign Language interpretation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Morillas-Espejo, F., &amp; Martinez-Martin, E.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Neural Computing and Applications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Springer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6426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Combining state-of-the-art pre-trained deep learning models: A novel approach for Bangla Sign Language recognition using Max Voting Ensemble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Kabir, M. H., Miah, A. S. M., Hadiuzzaman, M., &amp; Shin, J.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Systems and Soft Computing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881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Two stream GRU model with ELU activation function for sign language recognition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Myagila, K., Nyambo, D. G., &amp; Dida, M. A.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Intelligent Systems with Applications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279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MSKA: Multi-stream keypoint attention network for sign language recognition and translation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Guan, M., Wang, Y., Ma, G., Liu, J., &amp; Sun, M.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Pattern Recognition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313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Hear Sign Language: A Real-Time End-to-End Sign Language Recognition System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Wang, Z., Zhao, T., Ma, J., Chen, H., Liu, K., Shao, H., Wang, Q., &amp; Ren, J.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2022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IEEE Transactions on Mobile Computing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IEEE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0553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Title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Authors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Year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Journal/Conference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Publisher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723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A real-time platform for Spanish Sign Language interpretation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Morillas-Espejo, F., &amp; Martinez-Martin, E.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Neural Computing and Applications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Springer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7348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Combining state-of-the-art pre-trained deep learning models: A novel approach for Bangla Sign Language recognition using Max Voting Ensemble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Kabir, M. H., Miah, A. S. M., Hadiuzzaman, M., &amp; Shin, J.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Systems and Soft Computing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075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Two stream GRU model with ELU activation function for sign language recognition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Myagila, K., Nyambo, D. G., &amp; Dida, M. A.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Intelligent Systems with Applications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3820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MSKA: Multi-stream keypoint attention network for sign language recognition and translation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Guan, M., Wang, Y., Ma, G., Liu, J., &amp; Sun, M.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Pattern Recognition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202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Hear Sign Language: A Real-Time End-to-End Sign Language Recognition System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Wang, Z., Zhao, T., Ma, J., Chen, H., Liu, K., Shao, H., Wang, Q., &amp; Ren, J.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2022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IEEE Transactions on Mobile Computing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IEEE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596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Title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Authors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Year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Journal/Conference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Publisher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0680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A real-time platform for Spanish Sign Language interpretation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Morillas-Espejo, F., &amp; Martinez-Martin, E.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Neural Computing and Applications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Springer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7284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Combining state-of-the-art pre-trained deep learning models: A novel approach for Bangla Sign Language recognition using Max Voting Ensemble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Kabir, M. H., Miah, A. S. M., Hadiuzzaman, M., &amp; Shin, J.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Systems and Soft Computing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3820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Two stream GRU model with ELU activation function for sign language recognition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Myagila, K., Nyambo, D. G., &amp; Dida, M. A.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Intelligent Systems with Applications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3820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MSKA: Multi-stream keypoint attention network for sign language recognition and translation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Guan, M., Wang, Y., Ma, G., Liu, J., &amp; Sun, M.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Pattern Recognition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723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Hear Sign Language: A Real-Time End-to-End Sign Language Recognition System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Wang, Z., Zhao, T., Ma, J., Chen, H., Liu, K., Shao, H., Wang, Q., &amp; Ren, J.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2022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IEEE Transactions on Mobile Computing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IEEE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596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Title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Authors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Year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Journal/Conference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Publisher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5925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A real-time platform for Spanish Sign Language interpretation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Morillas-Espejo, F., &amp; Martinez-Martin, E.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Neural Computing and Applications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Springer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72845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Combining state-of-the-art pre-trained deep learning models: A novel approach for Bangla Sign Language recognition using Max Voting Ensemble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Kabir, M. H., Miah, A. S. M., Hadiuzzaman, M., &amp; Shin, J.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Systems and Soft Computing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38200"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Two stream GRU model with ELU activation function for sign language recognition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Myagila, K., Nyambo, D. G., &amp; Dida, M. A.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2025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Intelligent Systems with Applications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000">
                          <a:solidFill>
                            <a:schemeClr val="bg1"/>
                          </a:solidFill>
                        </a:rPr>
                        <a:t>Elsevier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201930" y="198120"/>
          <a:ext cx="8705850" cy="4716780"/>
        </p:xfrm>
        <a:graphic>
          <a:graphicData uri="http://schemas.openxmlformats.org/drawingml/2006/table">
            <a:tbl>
              <a:tblPr/>
              <a:tblGrid>
                <a:gridCol w="1450975"/>
                <a:gridCol w="1450975"/>
                <a:gridCol w="1450975"/>
                <a:gridCol w="1450975"/>
                <a:gridCol w="1450975"/>
                <a:gridCol w="1450975"/>
              </a:tblGrid>
              <a:tr h="163195"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Title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Authors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Year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Journal/Conference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Publisher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DOI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37920"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Real-Time Sign Language Recognition using Machine Learning and CNN-based EfficientNetB3 for Accessible Communication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Mizan, Z. I., Aidelkhani, F., Reza, K. T., Bhuiyan, T. H., Alom, M., &amp; Tuhin, S. I.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International Conference on Advanced Computing and Renewable Systems (ICACRS)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IEEE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  <a:hlinkClick r:id="rId2"/>
                        </a:rPr>
                        <a:t>DOI</a:t>
                      </a:r>
                      <a:endParaRPr sz="800">
                        <a:solidFill>
                          <a:schemeClr val="bg1"/>
                        </a:solidFill>
                        <a:hlinkClick r:id="rId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3435"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Real-Time Marathi Sign Language Recognition using Deep Learning Techniques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Deshmukh, R., Lahamge, T., Phadatare, I., Shinde, D., &amp; Manhas, R.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ICACRS 2024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IEEE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  <a:hlinkClick r:id="rId3"/>
                        </a:rPr>
                        <a:t>DOI</a:t>
                      </a:r>
                      <a:endParaRPr sz="800">
                        <a:solidFill>
                          <a:schemeClr val="bg1"/>
                        </a:solidFill>
                        <a:hlinkClick r:id="rId3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5995"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Sign to Text: Automated Sign Language Interpretation using LSTM and Computer Vision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Sakthivel, S. M., Kumar, N. S., Harika, C., Harika, C., Reddy, C., &amp; Kalyan, D.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ICACRS 2024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IEEE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  <a:hlinkClick r:id="rId4"/>
                        </a:rPr>
                        <a:t>DOI</a:t>
                      </a:r>
                      <a:endParaRPr sz="800">
                        <a:solidFill>
                          <a:schemeClr val="bg1"/>
                        </a:solidFill>
                        <a:hlinkClick r:id="rId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2800"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Multimodal Real-Time Translation System for Hearing Impaired Accessibility Using Deep Learning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Balachandra, M., &amp; Manjula, A.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Indian Scientific Journal Of Research In Engineering And Management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IJSREM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  <a:hlinkClick r:id="rId5"/>
                        </a:rPr>
                        <a:t>DOI</a:t>
                      </a:r>
                      <a:endParaRPr sz="800">
                        <a:solidFill>
                          <a:schemeClr val="bg1"/>
                        </a:solidFill>
                        <a:hlinkClick r:id="rId5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3435"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Real-time Sign Language to Text Conversion using Deep Learning Models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Shekhar, R.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2024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International Conference on Advances in Nanotechnology (ICONAT)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</a:rPr>
                        <a:t>IEEE</a:t>
                      </a: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800">
                          <a:solidFill>
                            <a:schemeClr val="bg1"/>
                          </a:solidFill>
                          <a:hlinkClick r:id="rId6"/>
                        </a:rPr>
                        <a:t>DOI</a:t>
                      </a:r>
                      <a:endParaRPr sz="800">
                        <a:solidFill>
                          <a:schemeClr val="bg1"/>
                        </a:solidFill>
                        <a:hlinkClick r:id="rId6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96265" y="725170"/>
            <a:ext cx="77717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chemeClr val="bg1"/>
                </a:solidFill>
                <a:sym typeface="+mn-ea"/>
              </a:rPr>
              <a:t>Objectives.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  <a:sym typeface="+mn-ea"/>
              </a:rPr>
              <a:t>1.  To integrate two labeled sign language datasets for training deep learning models.</a:t>
            </a:r>
            <a:endParaRPr lang="en-US" altLang="en-US">
              <a:solidFill>
                <a:schemeClr val="bg1"/>
              </a:solidFill>
              <a:sym typeface="+mn-ea"/>
            </a:endParaRPr>
          </a:p>
          <a:p>
            <a:endParaRPr lang="en-US" altLang="en-US">
              <a:solidFill>
                <a:schemeClr val="bg1"/>
              </a:solidFill>
              <a:sym typeface="+mn-ea"/>
            </a:endParaRPr>
          </a:p>
          <a:p>
            <a:r>
              <a:rPr lang="en-US" altLang="en-US">
                <a:solidFill>
                  <a:schemeClr val="bg1"/>
                </a:solidFill>
                <a:sym typeface="+mn-ea"/>
              </a:rPr>
              <a:t>2.  To design and implement a real-time system that captures and processes hand gestures for accurate sign language recognition.</a:t>
            </a:r>
            <a:endParaRPr lang="en-US" altLang="en-US">
              <a:solidFill>
                <a:schemeClr val="bg1"/>
              </a:solidFill>
              <a:sym typeface="+mn-ea"/>
            </a:endParaRPr>
          </a:p>
          <a:p>
            <a:endParaRPr lang="en-US" altLang="en-US">
              <a:solidFill>
                <a:schemeClr val="bg1"/>
              </a:solidFill>
              <a:sym typeface="+mn-ea"/>
            </a:endParaRPr>
          </a:p>
          <a:p>
            <a:r>
              <a:rPr lang="en-US" altLang="en-US">
                <a:solidFill>
                  <a:schemeClr val="bg1"/>
                </a:solidFill>
                <a:sym typeface="+mn-ea"/>
              </a:rPr>
              <a:t>3.  To evaluate the performance of the proposed system using evaluation metrics such as precision, recall, F1-score, and the confusion matrix.</a:t>
            </a:r>
            <a:endParaRPr lang="en-US" alt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23" y="1328131"/>
            <a:ext cx="7542352" cy="923290"/>
          </a:xfrm>
        </p:spPr>
        <p:txBody>
          <a:bodyPr/>
          <a:p>
            <a:r>
              <a:rPr lang="en-US" altLang="en-US"/>
              <a:t> </a:t>
            </a:r>
            <a:r>
              <a:rPr lang="en-US" altLang="en-US" sz="6000"/>
              <a:t>Methodology </a:t>
            </a:r>
            <a:endParaRPr lang="en-US" altLang="en-US" sz="6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135" y="663575"/>
            <a:ext cx="7542530" cy="3434715"/>
          </a:xfrm>
        </p:spPr>
        <p:txBody>
          <a:bodyPr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/>
              <a:t>1.Data Collection</a:t>
            </a:r>
            <a:br>
              <a:rPr lang="en-US" altLang="en-US"/>
            </a:br>
            <a:br>
              <a:rPr lang="en-US" altLang="en-US"/>
            </a:br>
            <a:r>
              <a:rPr lang="en-US" altLang="en-US" sz="1200"/>
              <a:t>1. </a:t>
            </a:r>
            <a: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Two datasets from Kaggle ( Alphabets)</a:t>
            </a: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.Converted all images to JPG format</a:t>
            </a: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 Combined into a single labeled dataset</a:t>
            </a: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Included variations in hand shape, background, and lighting</a:t>
            </a: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Images labeled as ‘0’, ‘1’, ‘A’, ‘B’, etc.</a:t>
            </a: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 Organized into class-wise directories for training</a:t>
            </a:r>
            <a:br>
              <a:rPr lang="en-US" altLang="en-US" sz="12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altLang="en-US" sz="12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23" y="590261"/>
            <a:ext cx="7542352" cy="553720"/>
          </a:xfrm>
        </p:spPr>
        <p:txBody>
          <a:bodyPr/>
          <a:p>
            <a:r>
              <a:rPr lang="en-US" altLang="en-US">
                <a:sym typeface="+mn-ea"/>
              </a:rPr>
              <a:t>2.Preprocessing Steps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86435" y="1581150"/>
            <a:ext cx="7894955" cy="2466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>
                <a:solidFill>
                  <a:schemeClr val="bg1"/>
                </a:solidFill>
              </a:rPr>
              <a:t>Grayscale Conversion: Simplifies input data by focusing on shape and gesture recognition, reducing model complexity.</a:t>
            </a:r>
            <a:endParaRPr lang="en-US" altLang="en-US" sz="1600">
              <a:solidFill>
                <a:schemeClr val="bg1"/>
              </a:solidFill>
            </a:endParaRP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>
                <a:solidFill>
                  <a:schemeClr val="bg1"/>
                </a:solidFill>
              </a:rPr>
              <a:t>Gamma Correction: Adjusts brightness and contrast to improve visibility under various lighting conditions.</a:t>
            </a:r>
            <a:endParaRPr lang="en-US" altLang="en-US" sz="1600">
              <a:solidFill>
                <a:schemeClr val="bg1"/>
              </a:solidFill>
            </a:endParaRPr>
          </a:p>
          <a:p>
            <a:endParaRPr lang="en-US" altLang="en-US" sz="1600">
              <a:solidFill>
                <a:schemeClr val="bg1"/>
              </a:solidFill>
            </a:endParaRP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>
                <a:solidFill>
                  <a:schemeClr val="bg1"/>
                </a:solidFill>
              </a:rPr>
              <a:t>Gaussian Blur: Reduces noise and smooths images, allowing the model to focus on essential features.</a:t>
            </a:r>
            <a:endParaRPr lang="en-US" altLang="en-US" sz="1600">
              <a:solidFill>
                <a:schemeClr val="bg1"/>
              </a:solidFill>
            </a:endParaRP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>
                <a:solidFill>
                  <a:schemeClr val="bg1"/>
                </a:solidFill>
              </a:rPr>
              <a:t>Resizing: Standardizes image size to 224x224 pixels for model compatibility while preserving gesture structure.</a:t>
            </a:r>
            <a:endParaRPr lang="en-US" altLang="en-US" sz="1600">
              <a:solidFill>
                <a:schemeClr val="bg1"/>
              </a:solidFill>
            </a:endParaRPr>
          </a:p>
          <a:p>
            <a:endParaRPr lang="en-US" altLang="en-US" sz="1600">
              <a:solidFill>
                <a:schemeClr val="bg1"/>
              </a:solidFill>
            </a:endParaRPr>
          </a:p>
          <a:p>
            <a:endParaRPr lang="en-US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435" y="438150"/>
            <a:ext cx="7542530" cy="728345"/>
          </a:xfrm>
        </p:spPr>
        <p:txBody>
          <a:bodyPr>
            <a:noAutofit/>
          </a:bodyPr>
          <a:p>
            <a:r>
              <a:rPr lang="en-US" altLang="en-US">
                <a:sym typeface="+mn-ea"/>
              </a:rPr>
              <a:t>3.Model Selection</a:t>
            </a:r>
            <a:br>
              <a:rPr lang="en-US" altLang="en-US">
                <a:sym typeface="+mn-ea"/>
              </a:rPr>
            </a:b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4035" y="1504950"/>
            <a:ext cx="749554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</a:rPr>
              <a:t>MobileNetV2 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Lightweight CNN optimized for mobile and embedded devices.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Uses depthwise separable convolutions for reduced computation.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Incorporates inverted residual blocks with linear bottlenecks.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Offers fast and efficient performance with fewer parameters.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Ideal for real-time applications on low-power hardware.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219835" y="1504950"/>
            <a:ext cx="7028815" cy="2717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ResNet50 </a:t>
            </a:r>
            <a:endParaRPr lang="en-US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Deep CNN with 50 layers based on residual learning.</a:t>
            </a:r>
            <a:endParaRPr lang="en-US" altLang="en-US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Uses skip connections to prevent vanishing gradient problems.</a:t>
            </a:r>
            <a:endParaRPr lang="en-US" altLang="en-US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Achieves high accuracy on complex image recognition tasks.</a:t>
            </a:r>
            <a:endParaRPr lang="en-US" altLang="en-US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Requires more computational power (GPU/CPU).</a:t>
            </a:r>
            <a:endParaRPr lang="en-US" altLang="en-US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Well-suited for large-scale datasets.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635" y="-247650"/>
            <a:ext cx="7542530" cy="1377950"/>
          </a:xfrm>
        </p:spPr>
        <p:txBody>
          <a:bodyPr>
            <a:noAutofit/>
          </a:bodyPr>
          <a:p>
            <a:br>
              <a:rPr lang="en-US" altLang="en-US">
                <a:sym typeface="+mn-ea"/>
              </a:rPr>
            </a:br>
            <a:r>
              <a:rPr lang="en-US" altLang="en-US" sz="4800">
                <a:sym typeface="+mn-ea"/>
              </a:rPr>
              <a:t>4.Training the Model</a:t>
            </a:r>
            <a:br>
              <a:rPr lang="en-US" altLang="en-US" sz="4800">
                <a:sym typeface="+mn-ea"/>
              </a:rPr>
            </a:br>
            <a:endParaRPr lang="en-US" sz="4800"/>
          </a:p>
        </p:txBody>
      </p:sp>
      <p:sp>
        <p:nvSpPr>
          <p:cNvPr id="4" name="Text Box 3"/>
          <p:cNvSpPr txBox="1"/>
          <p:nvPr/>
        </p:nvSpPr>
        <p:spPr>
          <a:xfrm>
            <a:off x="3947795" y="13436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MobileNetV2</a:t>
            </a:r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3" name="Picture 2" descr="model2accurac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0" y="1085850"/>
            <a:ext cx="470154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834130" y="67500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ResNet50</a:t>
            </a:r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20" name="Picture 20" descr="Resnet50accurac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835" y="1276033"/>
            <a:ext cx="5349240" cy="3775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723" y="590261"/>
            <a:ext cx="7542352" cy="553720"/>
          </a:xfrm>
        </p:spPr>
        <p:txBody>
          <a:bodyPr/>
          <a:p>
            <a:r>
              <a:rPr lang="en-US"/>
              <a:t>Result and Conclusions</a:t>
            </a:r>
            <a:endParaRPr lang="en-US"/>
          </a:p>
        </p:txBody>
      </p:sp>
      <p:pic>
        <p:nvPicPr>
          <p:cNvPr id="3" name="Picture 2" descr="comparis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2055" y="1694180"/>
            <a:ext cx="4330065" cy="31540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4166870" y="3892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MobileNetV2</a:t>
            </a:r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2" name="Picture 1" descr="model2confus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1200150"/>
            <a:ext cx="4579620" cy="34944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resnet2confus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080" y="1490345"/>
            <a:ext cx="4220845" cy="34112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657600" y="8953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ResNet-50</a:t>
            </a:r>
            <a:endParaRPr 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810000" y="10477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MobileNetV2</a:t>
            </a:r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2" name="Picture 1" descr="model2precess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525" y="1657350"/>
            <a:ext cx="5568950" cy="31946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605530" y="75120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ResNet50</a:t>
            </a:r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2" name="Picture 1" descr="resnet2preces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0" y="1311275"/>
            <a:ext cx="6104255" cy="35382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Picture 1"/>
          <p:cNvPicPr>
            <a:picLocks noChangeAspect="1"/>
          </p:cNvPicPr>
          <p:nvPr/>
        </p:nvPicPr>
        <p:blipFill>
          <a:blip r:embed="rId1"/>
          <a:srcRect l="2983" t="7039" r="5378" b="8561"/>
          <a:stretch>
            <a:fillRect/>
          </a:stretch>
        </p:blipFill>
        <p:spPr>
          <a:xfrm>
            <a:off x="1753235" y="1352550"/>
            <a:ext cx="5347970" cy="25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1376432"/>
            <a:ext cx="43630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5" dirty="0">
                <a:solidFill>
                  <a:srgbClr val="1A1A1A"/>
                </a:solidFill>
              </a:rPr>
              <a:t>Software</a:t>
            </a:r>
            <a:r>
              <a:rPr sz="3000" spc="-190" dirty="0">
                <a:solidFill>
                  <a:srgbClr val="1A1A1A"/>
                </a:solidFill>
              </a:rPr>
              <a:t> </a:t>
            </a:r>
            <a:r>
              <a:rPr sz="3000" spc="25" dirty="0">
                <a:solidFill>
                  <a:srgbClr val="1A1A1A"/>
                </a:solidFill>
              </a:rPr>
              <a:t>Requirements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92998" y="2102750"/>
            <a:ext cx="2070735" cy="223329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Python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3.6.6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Tensorflow</a:t>
            </a:r>
            <a:r>
              <a:rPr sz="18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1.11.0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OpenCV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3.4.3.18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NumPy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1.15.3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Matplotlib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3.0.0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en-US" sz="1800">
                <a:latin typeface="Times New Roman" panose="02020603050405020304"/>
                <a:cs typeface="Times New Roman" panose="02020603050405020304"/>
              </a:rPr>
              <a:t>VS code</a:t>
            </a:r>
            <a:endParaRPr lang="en-US" sz="1800">
              <a:latin typeface="Times New Roman" panose="02020603050405020304"/>
              <a:cs typeface="Times New Roman" panose="02020603050405020304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endParaRPr lang="en-US"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6290" y="2102750"/>
            <a:ext cx="143954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Keras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2.2.1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PIL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5.3.0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1376432"/>
            <a:ext cx="44964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1A1A1A"/>
                </a:solidFill>
              </a:rPr>
              <a:t>Limitations </a:t>
            </a:r>
            <a:r>
              <a:rPr sz="3000" spc="45" dirty="0">
                <a:solidFill>
                  <a:srgbClr val="1A1A1A"/>
                </a:solidFill>
              </a:rPr>
              <a:t>of </a:t>
            </a:r>
            <a:r>
              <a:rPr sz="3000" dirty="0">
                <a:solidFill>
                  <a:srgbClr val="1A1A1A"/>
                </a:solidFill>
              </a:rPr>
              <a:t>our</a:t>
            </a:r>
            <a:r>
              <a:rPr sz="3000" spc="-430" dirty="0">
                <a:solidFill>
                  <a:srgbClr val="1A1A1A"/>
                </a:solidFill>
              </a:rPr>
              <a:t> </a:t>
            </a:r>
            <a:r>
              <a:rPr sz="3000" spc="90" dirty="0">
                <a:solidFill>
                  <a:srgbClr val="1A1A1A"/>
                </a:solidFill>
              </a:rPr>
              <a:t>model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77716" y="2095562"/>
            <a:ext cx="6560184" cy="171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394335" algn="l"/>
                <a:tab pos="394970" algn="l"/>
              </a:tabLst>
            </a:pPr>
            <a:r>
              <a:rPr sz="2000" spc="-5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sz="2000" spc="-13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dirty="0">
                <a:latin typeface="Calibri" panose="020F0502020204030204" charset="0"/>
                <a:cs typeface="Calibri" panose="020F0502020204030204" charset="0"/>
              </a:rPr>
              <a:t>model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10" dirty="0">
                <a:latin typeface="Calibri" panose="020F0502020204030204" charset="0"/>
                <a:cs typeface="Calibri" panose="020F0502020204030204" charset="0"/>
              </a:rPr>
              <a:t>works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5" dirty="0">
                <a:latin typeface="Calibri" panose="020F0502020204030204" charset="0"/>
                <a:cs typeface="Calibri" panose="020F0502020204030204" charset="0"/>
              </a:rPr>
              <a:t>well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dirty="0">
                <a:latin typeface="Calibri" panose="020F0502020204030204" charset="0"/>
                <a:cs typeface="Calibri" panose="020F0502020204030204" charset="0"/>
              </a:rPr>
              <a:t>only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10" dirty="0">
                <a:latin typeface="Calibri" panose="020F0502020204030204" charset="0"/>
                <a:cs typeface="Calibri" panose="020F0502020204030204" charset="0"/>
              </a:rPr>
              <a:t>in</a:t>
            </a:r>
            <a:r>
              <a:rPr sz="2000" spc="25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-20" dirty="0">
                <a:latin typeface="Calibri" panose="020F0502020204030204" charset="0"/>
                <a:cs typeface="Calibri" panose="020F0502020204030204" charset="0"/>
              </a:rPr>
              <a:t>good</a:t>
            </a:r>
            <a:r>
              <a:rPr sz="2000" spc="-13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10" dirty="0">
                <a:latin typeface="Calibri" panose="020F0502020204030204" charset="0"/>
                <a:cs typeface="Calibri" panose="020F0502020204030204" charset="0"/>
              </a:rPr>
              <a:t>lighting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-5" dirty="0">
                <a:latin typeface="Calibri" panose="020F0502020204030204" charset="0"/>
                <a:cs typeface="Calibri" panose="020F0502020204030204" charset="0"/>
              </a:rPr>
              <a:t>conditions.</a:t>
            </a:r>
            <a:endParaRPr sz="2000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●"/>
            </a:pPr>
            <a:endParaRPr sz="2400">
              <a:latin typeface="Calibri" panose="020F0502020204030204" charset="0"/>
              <a:cs typeface="Calibri" panose="020F0502020204030204" charset="0"/>
            </a:endParaRPr>
          </a:p>
          <a:p>
            <a:pPr marL="394335" marR="5080" indent="-382270">
              <a:lnSpc>
                <a:spcPct val="166000"/>
              </a:lnSpc>
              <a:buFont typeface="Arial" panose="020B0604020202020204"/>
              <a:buChar char="●"/>
              <a:tabLst>
                <a:tab pos="394335" algn="l"/>
                <a:tab pos="394970" algn="l"/>
              </a:tabLst>
            </a:pPr>
            <a:r>
              <a:rPr sz="2000" spc="20" dirty="0">
                <a:latin typeface="Calibri" panose="020F0502020204030204" charset="0"/>
                <a:cs typeface="Calibri" panose="020F0502020204030204" charset="0"/>
              </a:rPr>
              <a:t>Plain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5" dirty="0">
                <a:latin typeface="Calibri" panose="020F0502020204030204" charset="0"/>
                <a:cs typeface="Calibri" panose="020F0502020204030204" charset="0"/>
              </a:rPr>
              <a:t>background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15" dirty="0"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-10" dirty="0">
                <a:latin typeface="Calibri" panose="020F0502020204030204" charset="0"/>
                <a:cs typeface="Calibri" panose="020F0502020204030204" charset="0"/>
              </a:rPr>
              <a:t>needed</a:t>
            </a:r>
            <a:r>
              <a:rPr sz="2000" spc="-12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5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spc="5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dirty="0">
                <a:latin typeface="Calibri" panose="020F0502020204030204" charset="0"/>
                <a:cs typeface="Calibri" panose="020F0502020204030204" charset="0"/>
              </a:rPr>
              <a:t>model</a:t>
            </a:r>
            <a:r>
              <a:rPr sz="2000" spc="-12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dirty="0">
                <a:latin typeface="Calibri" panose="020F0502020204030204" charset="0"/>
                <a:cs typeface="Calibri" panose="020F0502020204030204" charset="0"/>
              </a:rPr>
              <a:t>detect</a:t>
            </a:r>
            <a:r>
              <a:rPr sz="2000" spc="-13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000" dirty="0">
                <a:latin typeface="Calibri" panose="020F0502020204030204" charset="0"/>
                <a:cs typeface="Calibri" panose="020F0502020204030204" charset="0"/>
              </a:rPr>
              <a:t>with  </a:t>
            </a:r>
            <a:r>
              <a:rPr sz="2000" spc="-5" dirty="0">
                <a:latin typeface="Calibri" panose="020F0502020204030204" charset="0"/>
                <a:cs typeface="Calibri" panose="020F0502020204030204" charset="0"/>
              </a:rPr>
              <a:t>accuracy.</a:t>
            </a:r>
            <a:endParaRPr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1376432"/>
            <a:ext cx="2066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solidFill>
                  <a:srgbClr val="1A1A1A"/>
                </a:solidFill>
              </a:rPr>
              <a:t>Conclusion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92998" y="2102750"/>
            <a:ext cx="7444105" cy="192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5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In conclusion, this project successfully developed a real-time sign language recognition system that accurately translates hand gestures into text and speech. Among the models tested, MobileNetV2 proved to be the most efficient, achieving 99.7% accuracy with fast inference and low computational cost, making it ideal for real-world applications on resource-constrained devices.</a:t>
            </a:r>
            <a:endParaRPr lang="en-US" altLang="en-US" sz="1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1376432"/>
            <a:ext cx="2477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" dirty="0">
                <a:solidFill>
                  <a:srgbClr val="1A1A1A"/>
                </a:solidFill>
              </a:rPr>
              <a:t>Future</a:t>
            </a:r>
            <a:r>
              <a:rPr sz="3000" spc="-165" dirty="0">
                <a:solidFill>
                  <a:srgbClr val="1A1A1A"/>
                </a:solidFill>
              </a:rPr>
              <a:t> </a:t>
            </a:r>
            <a:r>
              <a:rPr sz="3000" spc="5" dirty="0">
                <a:solidFill>
                  <a:srgbClr val="1A1A1A"/>
                </a:solidFill>
              </a:rPr>
              <a:t>Scope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02473" y="2102750"/>
            <a:ext cx="7528559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15000"/>
              </a:lnSpc>
              <a:spcBef>
                <a:spcPts val="100"/>
              </a:spcBef>
              <a:buFont typeface="AoyagiKouzanFontT"/>
              <a:buChar char="❖"/>
              <a:tabLst>
                <a:tab pos="469265" algn="l"/>
                <a:tab pos="469900" algn="l"/>
                <a:tab pos="914400" algn="l"/>
                <a:tab pos="1320165" algn="l"/>
                <a:tab pos="2248535" algn="l"/>
                <a:tab pos="2553970" algn="l"/>
                <a:tab pos="3377565" algn="l"/>
                <a:tab pos="4089400" algn="l"/>
                <a:tab pos="5026660" algn="l"/>
                <a:tab pos="5584825" algn="l"/>
                <a:tab pos="5890260" algn="l"/>
                <a:tab pos="6410325" algn="l"/>
                <a:tab pos="6729095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ar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	planning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achiev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	higher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accurac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y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eve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n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n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cas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	of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complex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backgrounds by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trying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out various background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subtraction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algorithms.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469265" marR="5080" indent="-457200">
              <a:lnSpc>
                <a:spcPct val="115000"/>
              </a:lnSpc>
              <a:buFont typeface="AoyagiKouzanFontT"/>
              <a:buChar char="❖"/>
              <a:tabLst>
                <a:tab pos="469265" algn="l"/>
                <a:tab pos="469900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We are also thinking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improving the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preprocessing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predict gestures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in  low light conditions with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 higher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accuracy.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EB5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0389" y="4169118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4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3" y="1856417"/>
            <a:ext cx="43154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5" dirty="0"/>
              <a:t>Thank </a:t>
            </a:r>
            <a:r>
              <a:rPr sz="6000" spc="-10" dirty="0"/>
              <a:t>You</a:t>
            </a:r>
            <a:r>
              <a:rPr sz="6000" spc="-560" dirty="0"/>
              <a:t> </a:t>
            </a:r>
            <a:r>
              <a:rPr sz="6000" spc="-160" dirty="0"/>
              <a:t>!</a:t>
            </a:r>
            <a:endParaRPr sz="6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9*1569"/>
  <p:tag name="TABLE_ENDDRAG_RECT" val="19*8*669*1569"/>
</p:tagLst>
</file>

<file path=ppt/tags/tag2.xml><?xml version="1.0" encoding="utf-8"?>
<p:tagLst xmlns:p="http://schemas.openxmlformats.org/presentationml/2006/main">
  <p:tag name="TABLE_ENDDRAG_ORIGIN_RECT" val="685*371"/>
  <p:tag name="TABLE_ENDDRAG_RECT" val="15*15*685*37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7793</Words>
  <Application>WPS Presentation</Application>
  <PresentationFormat>On-screen Show (16:9)</PresentationFormat>
  <Paragraphs>409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SimSun</vt:lpstr>
      <vt:lpstr>Wingdings</vt:lpstr>
      <vt:lpstr>Arial</vt:lpstr>
      <vt:lpstr>Lato</vt:lpstr>
      <vt:lpstr>Segoe Print</vt:lpstr>
      <vt:lpstr>Times New Roman</vt:lpstr>
      <vt:lpstr>Calibri</vt:lpstr>
      <vt:lpstr>Microsoft YaHei</vt:lpstr>
      <vt:lpstr>Arial Unicode MS</vt:lpstr>
      <vt:lpstr>Times New Roman</vt:lpstr>
      <vt:lpstr>AoyagiKouzanFontT</vt:lpstr>
      <vt:lpstr>Office Theme</vt:lpstr>
      <vt:lpstr>PowerPoint 演示文稿</vt:lpstr>
      <vt:lpstr>Abstract</vt:lpstr>
      <vt:lpstr>PowerPoint 演示文稿</vt:lpstr>
      <vt:lpstr>Literature Review</vt:lpstr>
      <vt:lpstr>PowerPoint 演示文稿</vt:lpstr>
      <vt:lpstr>PowerPoint 演示文稿</vt:lpstr>
      <vt:lpstr>PowerPoint 演示文稿</vt:lpstr>
      <vt:lpstr> Methodology </vt:lpstr>
      <vt:lpstr>1.Data Collection  1. Two datasets from Kaggle ( Alphabets)  2 .Converted all images to JPG format  3.  Combined into a single labeled dataset  4. Included variations in hand shape, background, and lighting  5. Images labeled as ‘0’, ‘1’, ‘A’, ‘B’, etc.  6. Organized into class-wise directories for training </vt:lpstr>
      <vt:lpstr>2.Preprocessing Steps</vt:lpstr>
      <vt:lpstr>3.Model Selection </vt:lpstr>
      <vt:lpstr>PowerPoint 演示文稿</vt:lpstr>
      <vt:lpstr> 4.Training the Model </vt:lpstr>
      <vt:lpstr>PowerPoint 演示文稿</vt:lpstr>
      <vt:lpstr>Result and Conclusions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Software Requirements</vt:lpstr>
      <vt:lpstr>Limitations of our model</vt:lpstr>
      <vt:lpstr>Conclusion</vt:lpstr>
      <vt:lpstr>Future Scope</vt:lpstr>
      <vt:lpstr>Thank You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Sumanpreet Kaur</cp:lastModifiedBy>
  <cp:revision>9</cp:revision>
  <dcterms:created xsi:type="dcterms:W3CDTF">2021-09-22T17:48:00Z</dcterms:created>
  <dcterms:modified xsi:type="dcterms:W3CDTF">2025-06-19T17:26:49Z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2021-09-23T14:30:00Z</vt:filetime>
  </property>
  <property fmtid="{D5CDD505-2E9C-101B-9397-08002B2CF9AE}" pid="4" name="ICV">
    <vt:lpwstr>D7AE96AAC9B74010BF36B2B495BC787A_13</vt:lpwstr>
  </property>
  <property fmtid="{D5CDD505-2E9C-101B-9397-08002B2CF9AE}" pid="5" name="KSOProductBuildVer">
    <vt:lpwstr>1033-12.2.0.21546</vt:lpwstr>
  </property>
</Properties>
</file>